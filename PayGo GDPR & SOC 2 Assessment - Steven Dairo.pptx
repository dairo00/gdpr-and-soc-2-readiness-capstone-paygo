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Poppins" panose="00000500000000000000" pitchFamily="34"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7202A"/>
                </a:solidFill>
                <a:latin typeface="Poppins" pitchFamily="34" charset="0"/>
                <a:ea typeface="Poppins" pitchFamily="34" charset="-122"/>
                <a:cs typeface="Poppi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07"/>
            <a:ext cx="10566400" cy="4424693"/>
          </a:xfrm>
          <a:prstGeom prst="rect">
            <a:avLst/>
          </a:prstGeom>
          <a:noFill/>
          <a:ln/>
        </p:spPr>
        <p:txBody>
          <a:bodyPr wrap="square" lIns="0" tIns="0" rIns="0" bIns="0" rtlCol="0" anchor="t"/>
          <a:lstStyle>
            <a:lvl1pPr algn="l" indent="0" marL="0">
              <a:lnSpc>
                <a:spcPct val="140000"/>
              </a:lnSpc>
              <a:buNone/>
              <a:defRPr lang="en-US" sz="1600" dirty="0">
                <a:solidFill>
                  <a:srgbClr val="17202A"/>
                </a:solidFill>
                <a:latin typeface="Poppins" pitchFamily="34" charset="0"/>
                <a:ea typeface="Poppins" pitchFamily="34" charset="-122"/>
                <a:cs typeface="Poppi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7202A"/>
                </a:solidFill>
                <a:latin typeface="Poppins" pitchFamily="34" charset="0"/>
                <a:ea typeface="Poppins" pitchFamily="34" charset="-122"/>
                <a:cs typeface="Poppi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507"/>
            <a:ext cx="10566400" cy="4424693"/>
          </a:xfrm>
          <a:prstGeom prst="rect">
            <a:avLst/>
          </a:prstGeom>
          <a:noFill/>
          <a:ln/>
        </p:spPr>
        <p:txBody>
          <a:bodyPr wrap="square" lIns="0" tIns="0" rIns="0" bIns="0" rtlCol="0" anchor="t"/>
          <a:lstStyle>
            <a:lvl1pPr algn="l" indent="0" marL="0">
              <a:lnSpc>
                <a:spcPct val="140000"/>
              </a:lnSpc>
              <a:buNone/>
              <a:defRPr lang="en-US" sz="1600" dirty="0">
                <a:solidFill>
                  <a:srgbClr val="17202A"/>
                </a:solidFill>
                <a:latin typeface="Poppins" pitchFamily="34" charset="0"/>
                <a:ea typeface="Poppins" pitchFamily="34" charset="-122"/>
                <a:cs typeface="Poppi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2A"/>
        </a:solidFill>
      </p:bgPr>
    </p:bg>
    <p:spTree>
      <p:nvGrpSpPr>
        <p:cNvPr id="1" name=""/>
        <p:cNvGrpSpPr/>
        <p:nvPr/>
      </p:nvGrpSpPr>
      <p:grpSpPr>
        <a:xfrm>
          <a:off x="0" y="0"/>
          <a:ext cx="0" cy="0"/>
          <a:chOff x="0" y="0"/>
          <a:chExt cx="0" cy="0"/>
        </a:xfrm>
      </p:grpSpPr>
      <p:sp>
        <p:nvSpPr>
          <p:cNvPr id="2" name="Text 0"/>
          <p:cNvSpPr/>
          <p:nvPr>
            <p:ph type="title"/>
          </p:nvPr>
        </p:nvSpPr>
        <p:spPr>
          <a:xfrm>
            <a:off x="812800" y="2212380"/>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2EA"/>
                </a:solidFill>
                <a:latin typeface="Poppins" pitchFamily="34" charset="0"/>
                <a:ea typeface="Poppins" pitchFamily="34" charset="-122"/>
                <a:cs typeface="Poppins" pitchFamily="34" charset="-120"/>
              </a:rPr>
              <a:t>PayGo: GDPR data mapping and SOC 2 readiness</a:t>
            </a:r>
            <a:endParaRPr lang="en-US" sz="3600" dirty="0"/>
          </a:p>
        </p:txBody>
      </p:sp>
      <p:sp>
        <p:nvSpPr>
          <p:cNvPr id="3" name="Text 1"/>
          <p:cNvSpPr/>
          <p:nvPr/>
        </p:nvSpPr>
        <p:spPr>
          <a:xfrm>
            <a:off x="812800" y="3522993"/>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9FD6D0"/>
                </a:solidFill>
                <a:latin typeface="Poppins" pitchFamily="34" charset="0"/>
                <a:ea typeface="Poppins" pitchFamily="34" charset="-122"/>
                <a:cs typeface="Poppins" pitchFamily="34" charset="-120"/>
              </a:rPr>
              <a:t>PayGo has policies on paper. It cannot yet prove they work.</a:t>
            </a:r>
            <a:endParaRPr lang="en-US" sz="2000" dirty="0"/>
          </a:p>
        </p:txBody>
      </p:sp>
      <p:sp>
        <p:nvSpPr>
          <p:cNvPr id="4" name="Text 2"/>
          <p:cNvSpPr/>
          <p:nvPr/>
        </p:nvSpPr>
        <p:spPr>
          <a:xfrm>
            <a:off x="812800" y="4157993"/>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4B6"/>
                </a:solidFill>
                <a:latin typeface="Poppins" pitchFamily="34" charset="0"/>
                <a:ea typeface="Poppins" pitchFamily="34" charset="-122"/>
                <a:cs typeface="Poppins" pitchFamily="34" charset="-120"/>
              </a:rPr>
              <a:t>Scenario-based assessment | Steven Dairo | 2026-10-27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2A"/>
                </a:solidFill>
                <a:latin typeface="Poppins" pitchFamily="34" charset="0"/>
                <a:ea typeface="Poppins" pitchFamily="34" charset="-122"/>
                <a:cs typeface="Poppins" pitchFamily="34" charset="-120"/>
              </a:rPr>
              <a:t>Data mapping</a:t>
            </a:r>
            <a:endParaRPr lang="en-US" sz="3600" dirty="0"/>
          </a:p>
        </p:txBody>
      </p:sp>
      <p:sp>
        <p:nvSpPr>
          <p:cNvPr id="3" name="Text 1"/>
          <p:cNvSpPr/>
          <p:nvPr/>
        </p:nvSpPr>
        <p:spPr>
          <a:xfrm>
            <a:off x="812800" y="1620507"/>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3B4652"/>
                </a:solidFill>
                <a:latin typeface="Poppins" pitchFamily="34" charset="0"/>
                <a:ea typeface="Poppins" pitchFamily="34" charset="-122"/>
                <a:cs typeface="Poppins" pitchFamily="34" charset="-120"/>
              </a:rPr>
              <a:t>Seven activities in the case, plus one with no described activity</a:t>
            </a:r>
            <a:endParaRPr lang="en-US" sz="2000" dirty="0"/>
          </a:p>
        </p:txBody>
      </p:sp>
      <p:sp>
        <p:nvSpPr>
          <p:cNvPr id="4" name="Shape 2"/>
          <p:cNvSpPr/>
          <p:nvPr/>
        </p:nvSpPr>
        <p:spPr>
          <a:xfrm>
            <a:off x="815975" y="2258682"/>
            <a:ext cx="3380317" cy="2907506"/>
          </a:xfrm>
          <a:prstGeom prst="roundRect">
            <a:avLst>
              <a:gd name="adj" fmla="val 3385"/>
            </a:avLst>
          </a:prstGeom>
          <a:solidFill>
            <a:srgbClr val="FFFFFF"/>
          </a:solidFill>
          <a:ln w="6350">
            <a:solidFill>
              <a:srgbClr val="DDD8CB"/>
            </a:solidFill>
            <a:prstDash val="solid"/>
          </a:ln>
        </p:spPr>
      </p:sp>
      <p:sp>
        <p:nvSpPr>
          <p:cNvPr id="5" name="Text 3"/>
          <p:cNvSpPr/>
          <p:nvPr/>
        </p:nvSpPr>
        <p:spPr>
          <a:xfrm>
            <a:off x="1071033" y="2513740"/>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Mapped</a:t>
            </a:r>
            <a:endParaRPr lang="en-US" sz="2000" dirty="0"/>
          </a:p>
        </p:txBody>
      </p:sp>
      <p:sp>
        <p:nvSpPr>
          <p:cNvPr id="6" name="Text 4"/>
          <p:cNvSpPr/>
          <p:nvPr/>
        </p:nvSpPr>
        <p:spPr>
          <a:xfrm>
            <a:off x="1071033" y="2920140"/>
            <a:ext cx="2956306" cy="201639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Registration, identity verification, payments, support, employees, security monitoring and card payments. Email communications appears only as a provider.</a:t>
            </a:r>
            <a:endParaRPr lang="en-US" sz="1600" dirty="0"/>
          </a:p>
        </p:txBody>
      </p:sp>
      <p:sp>
        <p:nvSpPr>
          <p:cNvPr id="7" name="Shape 5"/>
          <p:cNvSpPr/>
          <p:nvPr/>
        </p:nvSpPr>
        <p:spPr>
          <a:xfrm>
            <a:off x="4405842" y="2258682"/>
            <a:ext cx="3380317" cy="2907506"/>
          </a:xfrm>
          <a:prstGeom prst="roundRect">
            <a:avLst>
              <a:gd name="adj" fmla="val 3385"/>
            </a:avLst>
          </a:prstGeom>
          <a:solidFill>
            <a:srgbClr val="FFFFFF"/>
          </a:solidFill>
          <a:ln w="6350">
            <a:solidFill>
              <a:srgbClr val="DDD8CB"/>
            </a:solidFill>
            <a:prstDash val="solid"/>
          </a:ln>
        </p:spPr>
      </p:sp>
      <p:sp>
        <p:nvSpPr>
          <p:cNvPr id="8" name="Text 6"/>
          <p:cNvSpPr/>
          <p:nvPr/>
        </p:nvSpPr>
        <p:spPr>
          <a:xfrm>
            <a:off x="4660900" y="2513740"/>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Strengths</a:t>
            </a:r>
            <a:endParaRPr lang="en-US" sz="2000" dirty="0"/>
          </a:p>
        </p:txBody>
      </p:sp>
      <p:sp>
        <p:nvSpPr>
          <p:cNvPr id="9" name="Text 7"/>
          <p:cNvSpPr/>
          <p:nvPr/>
        </p:nvSpPr>
        <p:spPr>
          <a:xfrm>
            <a:off x="4660900" y="2920140"/>
            <a:ext cx="2956306"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Full card numbers and CVV are not stored. A retention schedule exists.</a:t>
            </a:r>
            <a:endParaRPr lang="en-US" sz="1600" dirty="0"/>
          </a:p>
        </p:txBody>
      </p:sp>
      <p:sp>
        <p:nvSpPr>
          <p:cNvPr id="10" name="Shape 8"/>
          <p:cNvSpPr/>
          <p:nvPr/>
        </p:nvSpPr>
        <p:spPr>
          <a:xfrm>
            <a:off x="7995709" y="2258682"/>
            <a:ext cx="3380317" cy="2907506"/>
          </a:xfrm>
          <a:prstGeom prst="roundRect">
            <a:avLst>
              <a:gd name="adj" fmla="val 3385"/>
            </a:avLst>
          </a:prstGeom>
          <a:solidFill>
            <a:srgbClr val="FFFFFF"/>
          </a:solidFill>
          <a:ln w="6350">
            <a:solidFill>
              <a:srgbClr val="DDD8CB"/>
            </a:solidFill>
            <a:prstDash val="solid"/>
          </a:ln>
        </p:spPr>
      </p:sp>
      <p:sp>
        <p:nvSpPr>
          <p:cNvPr id="11" name="Text 9"/>
          <p:cNvSpPr/>
          <p:nvPr/>
        </p:nvSpPr>
        <p:spPr>
          <a:xfrm>
            <a:off x="8250767" y="2513740"/>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Not stated</a:t>
            </a:r>
            <a:endParaRPr lang="en-US" sz="2000" dirty="0"/>
          </a:p>
        </p:txBody>
      </p:sp>
      <p:sp>
        <p:nvSpPr>
          <p:cNvPr id="12" name="Text 10"/>
          <p:cNvSpPr/>
          <p:nvPr/>
        </p:nvSpPr>
        <p:spPr>
          <a:xfrm>
            <a:off x="8250767" y="2920140"/>
            <a:ext cx="2956306"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Lawful bases, provider roles and locations, and whether data leaves the EEA.</a:t>
            </a:r>
            <a:endParaRPr lang="en-US" sz="16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Poppins" pitchFamily="34" charset="0"/>
                <a:ea typeface="Poppins" pitchFamily="34" charset="-122"/>
                <a:cs typeface="Poppins" pitchFamily="34" charset="-120"/>
              </a:rPr>
              <a:t>PayGo GDPR and SOC 2 assessment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2A"/>
                </a:solidFill>
                <a:latin typeface="Poppins" pitchFamily="34" charset="0"/>
                <a:ea typeface="Poppins" pitchFamily="34" charset="-122"/>
                <a:cs typeface="Poppins" pitchFamily="34" charset="-120"/>
              </a:rPr>
              <a:t>Status labels</a:t>
            </a:r>
            <a:endParaRPr lang="en-US" sz="3600" dirty="0"/>
          </a:p>
        </p:txBody>
      </p:sp>
      <p:sp>
        <p:nvSpPr>
          <p:cNvPr id="3" name="Text 1"/>
          <p:cNvSpPr/>
          <p:nvPr/>
        </p:nvSpPr>
        <p:spPr>
          <a:xfrm>
            <a:off x="812800" y="1620507"/>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3B4652"/>
                </a:solidFill>
                <a:latin typeface="Poppins" pitchFamily="34" charset="0"/>
                <a:ea typeface="Poppins" pitchFamily="34" charset="-122"/>
                <a:cs typeface="Poppins" pitchFamily="34" charset="-120"/>
              </a:rPr>
              <a:t>Every finding carries one of three statuses</a:t>
            </a:r>
            <a:endParaRPr lang="en-US" sz="2000" dirty="0"/>
          </a:p>
        </p:txBody>
      </p:sp>
      <p:sp>
        <p:nvSpPr>
          <p:cNvPr id="4" name="Shape 2"/>
          <p:cNvSpPr/>
          <p:nvPr/>
        </p:nvSpPr>
        <p:spPr>
          <a:xfrm>
            <a:off x="815975" y="2258682"/>
            <a:ext cx="3380317" cy="1769798"/>
          </a:xfrm>
          <a:prstGeom prst="roundRect">
            <a:avLst>
              <a:gd name="adj" fmla="val 5561"/>
            </a:avLst>
          </a:prstGeom>
          <a:solidFill>
            <a:srgbClr val="FFFFFF"/>
          </a:solidFill>
          <a:ln w="6350">
            <a:solidFill>
              <a:srgbClr val="DDD8CB"/>
            </a:solidFill>
            <a:prstDash val="solid"/>
          </a:ln>
        </p:spPr>
      </p:sp>
      <p:sp>
        <p:nvSpPr>
          <p:cNvPr id="5" name="Text 3"/>
          <p:cNvSpPr/>
          <p:nvPr/>
        </p:nvSpPr>
        <p:spPr>
          <a:xfrm>
            <a:off x="1071033" y="251374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Confirmed gap</a:t>
            </a:r>
            <a:endParaRPr lang="en-US" sz="2000" dirty="0"/>
          </a:p>
        </p:txBody>
      </p:sp>
      <p:sp>
        <p:nvSpPr>
          <p:cNvPr id="6" name="Text 4"/>
          <p:cNvSpPr/>
          <p:nvPr/>
        </p:nvSpPr>
        <p:spPr>
          <a:xfrm>
            <a:off x="1071033" y="2920141"/>
            <a:ext cx="2956306"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The scenario expressly states the weakness.</a:t>
            </a:r>
            <a:endParaRPr lang="en-US" sz="1600" dirty="0"/>
          </a:p>
        </p:txBody>
      </p:sp>
      <p:sp>
        <p:nvSpPr>
          <p:cNvPr id="7" name="Shape 5"/>
          <p:cNvSpPr/>
          <p:nvPr/>
        </p:nvSpPr>
        <p:spPr>
          <a:xfrm>
            <a:off x="4405842" y="2258682"/>
            <a:ext cx="3380317" cy="1769798"/>
          </a:xfrm>
          <a:prstGeom prst="roundRect">
            <a:avLst>
              <a:gd name="adj" fmla="val 5561"/>
            </a:avLst>
          </a:prstGeom>
          <a:solidFill>
            <a:srgbClr val="FFFFFF"/>
          </a:solidFill>
          <a:ln w="6350">
            <a:solidFill>
              <a:srgbClr val="DDD8CB"/>
            </a:solidFill>
            <a:prstDash val="solid"/>
          </a:ln>
        </p:spPr>
      </p:sp>
      <p:sp>
        <p:nvSpPr>
          <p:cNvPr id="8" name="Text 6"/>
          <p:cNvSpPr/>
          <p:nvPr/>
        </p:nvSpPr>
        <p:spPr>
          <a:xfrm>
            <a:off x="4660900" y="251374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Evidence gap</a:t>
            </a:r>
            <a:endParaRPr lang="en-US" sz="2000" dirty="0"/>
          </a:p>
        </p:txBody>
      </p:sp>
      <p:sp>
        <p:nvSpPr>
          <p:cNvPr id="9" name="Text 7"/>
          <p:cNvSpPr/>
          <p:nvPr/>
        </p:nvSpPr>
        <p:spPr>
          <a:xfrm>
            <a:off x="4660900" y="2920141"/>
            <a:ext cx="2956306"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The scenario is silent, so no conclusion is possible. Not a failure.</a:t>
            </a:r>
            <a:endParaRPr lang="en-US" sz="1600" dirty="0"/>
          </a:p>
        </p:txBody>
      </p:sp>
      <p:sp>
        <p:nvSpPr>
          <p:cNvPr id="10" name="Shape 8"/>
          <p:cNvSpPr/>
          <p:nvPr/>
        </p:nvSpPr>
        <p:spPr>
          <a:xfrm>
            <a:off x="7995709" y="2258682"/>
            <a:ext cx="3380317" cy="1769798"/>
          </a:xfrm>
          <a:prstGeom prst="roundRect">
            <a:avLst>
              <a:gd name="adj" fmla="val 5561"/>
            </a:avLst>
          </a:prstGeom>
          <a:solidFill>
            <a:srgbClr val="FFFFFF"/>
          </a:solidFill>
          <a:ln w="6350">
            <a:solidFill>
              <a:srgbClr val="DDD8CB"/>
            </a:solidFill>
            <a:prstDash val="solid"/>
          </a:ln>
        </p:spPr>
      </p:sp>
      <p:sp>
        <p:nvSpPr>
          <p:cNvPr id="11" name="Text 9"/>
          <p:cNvSpPr/>
          <p:nvPr/>
        </p:nvSpPr>
        <p:spPr>
          <a:xfrm>
            <a:off x="8250767" y="251374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No gap established</a:t>
            </a:r>
            <a:endParaRPr lang="en-US" sz="2000" dirty="0"/>
          </a:p>
        </p:txBody>
      </p:sp>
      <p:sp>
        <p:nvSpPr>
          <p:cNvPr id="12" name="Text 10"/>
          <p:cNvSpPr/>
          <p:nvPr/>
        </p:nvSpPr>
        <p:spPr>
          <a:xfrm>
            <a:off x="8250767" y="2920141"/>
            <a:ext cx="2956306"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Nothing in the facts shows a deficiency. This is not proof of compliance.</a:t>
            </a:r>
            <a:endParaRPr lang="en-US" sz="1600" dirty="0"/>
          </a:p>
        </p:txBody>
      </p:sp>
      <p:sp>
        <p:nvSpPr>
          <p:cNvPr id="13"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Poppins" pitchFamily="34" charset="0"/>
                <a:ea typeface="Poppins" pitchFamily="34" charset="-122"/>
                <a:cs typeface="Poppins" pitchFamily="34" charset="-120"/>
              </a:rPr>
              <a:t>PayGo GDPR and SOC 2 assessment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2A"/>
                </a:solidFill>
                <a:latin typeface="Poppins" pitchFamily="34" charset="0"/>
                <a:ea typeface="Poppins" pitchFamily="34" charset="-122"/>
                <a:cs typeface="Poppins" pitchFamily="34" charset="-120"/>
              </a:rPr>
              <a:t>GDPR results</a:t>
            </a:r>
            <a:endParaRPr lang="en-US" sz="3600" dirty="0"/>
          </a:p>
        </p:txBody>
      </p:sp>
      <p:sp>
        <p:nvSpPr>
          <p:cNvPr id="3" name="Text 1"/>
          <p:cNvSpPr/>
          <p:nvPr/>
        </p:nvSpPr>
        <p:spPr>
          <a:xfrm>
            <a:off x="812800" y="1620507"/>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3B4652"/>
                </a:solidFill>
                <a:latin typeface="Poppins" pitchFamily="34" charset="0"/>
                <a:ea typeface="Poppins" pitchFamily="34" charset="-122"/>
                <a:cs typeface="Poppins" pitchFamily="34" charset="-120"/>
              </a:rPr>
              <a:t>16 areas assessed against the brief</a:t>
            </a:r>
            <a:endParaRPr lang="en-US" sz="2000" dirty="0"/>
          </a:p>
        </p:txBody>
      </p:sp>
      <p:sp>
        <p:nvSpPr>
          <p:cNvPr id="4" name="Shape 2"/>
          <p:cNvSpPr/>
          <p:nvPr/>
        </p:nvSpPr>
        <p:spPr>
          <a:xfrm>
            <a:off x="815975" y="2258682"/>
            <a:ext cx="3380317" cy="2034117"/>
          </a:xfrm>
          <a:prstGeom prst="roundRect">
            <a:avLst>
              <a:gd name="adj" fmla="val 4839"/>
            </a:avLst>
          </a:prstGeom>
          <a:solidFill>
            <a:srgbClr val="FFFFFF"/>
          </a:solidFill>
          <a:ln w="6350">
            <a:solidFill>
              <a:srgbClr val="DDD8CB"/>
            </a:solidFill>
            <a:prstDash val="solid"/>
          </a:ln>
        </p:spPr>
      </p:sp>
      <p:sp>
        <p:nvSpPr>
          <p:cNvPr id="5" name="Text 3"/>
          <p:cNvSpPr/>
          <p:nvPr/>
        </p:nvSpPr>
        <p:spPr>
          <a:xfrm>
            <a:off x="1071033" y="2513741"/>
            <a:ext cx="295630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B8460E"/>
                </a:solidFill>
                <a:latin typeface="Poppins" pitchFamily="34" charset="0"/>
                <a:ea typeface="Poppins" pitchFamily="34" charset="-122"/>
                <a:cs typeface="Poppins" pitchFamily="34" charset="-120"/>
              </a:rPr>
              <a:t>7</a:t>
            </a:r>
            <a:endParaRPr lang="en-US" sz="8000" dirty="0"/>
          </a:p>
        </p:txBody>
      </p:sp>
      <p:sp>
        <p:nvSpPr>
          <p:cNvPr id="6" name="Text 4"/>
          <p:cNvSpPr/>
          <p:nvPr/>
        </p:nvSpPr>
        <p:spPr>
          <a:xfrm>
            <a:off x="1071033" y="363134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Confirmed gaps</a:t>
            </a:r>
            <a:endParaRPr lang="en-US" sz="2000" dirty="0"/>
          </a:p>
        </p:txBody>
      </p:sp>
      <p:sp>
        <p:nvSpPr>
          <p:cNvPr id="7" name="Shape 5"/>
          <p:cNvSpPr/>
          <p:nvPr/>
        </p:nvSpPr>
        <p:spPr>
          <a:xfrm>
            <a:off x="4405842" y="2258682"/>
            <a:ext cx="3380317" cy="2034117"/>
          </a:xfrm>
          <a:prstGeom prst="roundRect">
            <a:avLst>
              <a:gd name="adj" fmla="val 4839"/>
            </a:avLst>
          </a:prstGeom>
          <a:solidFill>
            <a:srgbClr val="FFFFFF"/>
          </a:solidFill>
          <a:ln w="6350">
            <a:solidFill>
              <a:srgbClr val="DDD8CB"/>
            </a:solidFill>
            <a:prstDash val="solid"/>
          </a:ln>
        </p:spPr>
      </p:sp>
      <p:sp>
        <p:nvSpPr>
          <p:cNvPr id="8" name="Text 6"/>
          <p:cNvSpPr/>
          <p:nvPr/>
        </p:nvSpPr>
        <p:spPr>
          <a:xfrm>
            <a:off x="4660900" y="2513741"/>
            <a:ext cx="295630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1D4F91"/>
                </a:solidFill>
                <a:latin typeface="Poppins" pitchFamily="34" charset="0"/>
                <a:ea typeface="Poppins" pitchFamily="34" charset="-122"/>
                <a:cs typeface="Poppins" pitchFamily="34" charset="-120"/>
              </a:rPr>
              <a:t>7</a:t>
            </a:r>
            <a:endParaRPr lang="en-US" sz="8000" dirty="0"/>
          </a:p>
        </p:txBody>
      </p:sp>
      <p:sp>
        <p:nvSpPr>
          <p:cNvPr id="9" name="Text 7"/>
          <p:cNvSpPr/>
          <p:nvPr/>
        </p:nvSpPr>
        <p:spPr>
          <a:xfrm>
            <a:off x="4660900" y="363134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Evidence gaps</a:t>
            </a:r>
            <a:endParaRPr lang="en-US" sz="2000" dirty="0"/>
          </a:p>
        </p:txBody>
      </p:sp>
      <p:sp>
        <p:nvSpPr>
          <p:cNvPr id="10" name="Shape 8"/>
          <p:cNvSpPr/>
          <p:nvPr/>
        </p:nvSpPr>
        <p:spPr>
          <a:xfrm>
            <a:off x="7995709" y="2258682"/>
            <a:ext cx="3380317" cy="2034117"/>
          </a:xfrm>
          <a:prstGeom prst="roundRect">
            <a:avLst>
              <a:gd name="adj" fmla="val 4839"/>
            </a:avLst>
          </a:prstGeom>
          <a:solidFill>
            <a:srgbClr val="FFFFFF"/>
          </a:solidFill>
          <a:ln w="6350">
            <a:solidFill>
              <a:srgbClr val="DDD8CB"/>
            </a:solidFill>
            <a:prstDash val="solid"/>
          </a:ln>
        </p:spPr>
      </p:sp>
      <p:sp>
        <p:nvSpPr>
          <p:cNvPr id="11" name="Text 9"/>
          <p:cNvSpPr/>
          <p:nvPr/>
        </p:nvSpPr>
        <p:spPr>
          <a:xfrm>
            <a:off x="8250767" y="2513741"/>
            <a:ext cx="2956306"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5B6770"/>
                </a:solidFill>
                <a:latin typeface="Poppins" pitchFamily="34" charset="0"/>
                <a:ea typeface="Poppins" pitchFamily="34" charset="-122"/>
                <a:cs typeface="Poppins" pitchFamily="34" charset="-120"/>
              </a:rPr>
              <a:t>2</a:t>
            </a:r>
            <a:endParaRPr lang="en-US" sz="8000" dirty="0"/>
          </a:p>
        </p:txBody>
      </p:sp>
      <p:sp>
        <p:nvSpPr>
          <p:cNvPr id="12" name="Text 10"/>
          <p:cNvSpPr/>
          <p:nvPr/>
        </p:nvSpPr>
        <p:spPr>
          <a:xfrm>
            <a:off x="8250767" y="3631341"/>
            <a:ext cx="295630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No gap established</a:t>
            </a:r>
            <a:endParaRPr lang="en-US" sz="2000" dirty="0"/>
          </a:p>
        </p:txBody>
      </p:sp>
      <p:sp>
        <p:nvSpPr>
          <p:cNvPr id="13" name="Text 11"/>
          <p:cNvSpPr/>
          <p:nvPr/>
        </p:nvSpPr>
        <p:spPr>
          <a:xfrm>
            <a:off x="812800" y="4600773"/>
            <a:ext cx="10883392"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Main confirmed gaps: incomplete record of processing, privacy notice, untested deletion, vendor roles and transfer records.</a:t>
            </a:r>
            <a:endParaRPr lang="en-US" sz="16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Poppins" pitchFamily="34" charset="0"/>
                <a:ea typeface="Poppins" pitchFamily="34" charset="-122"/>
                <a:cs typeface="Poppins" pitchFamily="34" charset="-120"/>
              </a:rPr>
              <a:t>PayGo GDPR and SOC 2 assessment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2A"/>
                </a:solidFill>
                <a:latin typeface="Poppins" pitchFamily="34" charset="0"/>
                <a:ea typeface="Poppins" pitchFamily="34" charset="-122"/>
                <a:cs typeface="Poppins" pitchFamily="34" charset="-120"/>
              </a:rPr>
              <a:t>SOC 2 results</a:t>
            </a:r>
            <a:endParaRPr lang="en-US" sz="3600" dirty="0"/>
          </a:p>
        </p:txBody>
      </p:sp>
      <p:sp>
        <p:nvSpPr>
          <p:cNvPr id="3" name="Text 1"/>
          <p:cNvSpPr/>
          <p:nvPr/>
        </p:nvSpPr>
        <p:spPr>
          <a:xfrm>
            <a:off x="812800" y="1620509"/>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3B4652"/>
                </a:solidFill>
                <a:latin typeface="Poppins" pitchFamily="34" charset="0"/>
                <a:ea typeface="Poppins" pitchFamily="34" charset="-122"/>
                <a:cs typeface="Poppins" pitchFamily="34" charset="-120"/>
              </a:rPr>
              <a:t>Policies exist; operation is not yet shown</a:t>
            </a:r>
            <a:endParaRPr lang="en-US" sz="2000" dirty="0"/>
          </a:p>
        </p:txBody>
      </p:sp>
      <p:sp>
        <p:nvSpPr>
          <p:cNvPr id="4" name="Shape 2"/>
          <p:cNvSpPr/>
          <p:nvPr/>
        </p:nvSpPr>
        <p:spPr>
          <a:xfrm>
            <a:off x="815975" y="2258684"/>
            <a:ext cx="5175250" cy="1769798"/>
          </a:xfrm>
          <a:prstGeom prst="roundRect">
            <a:avLst>
              <a:gd name="adj" fmla="val 5561"/>
            </a:avLst>
          </a:prstGeom>
          <a:solidFill>
            <a:srgbClr val="FFFFFF"/>
          </a:solidFill>
          <a:ln w="6350">
            <a:solidFill>
              <a:srgbClr val="DDD8CB"/>
            </a:solidFill>
            <a:prstDash val="solid"/>
          </a:ln>
        </p:spPr>
      </p:sp>
      <p:sp>
        <p:nvSpPr>
          <p:cNvPr id="5" name="Text 3"/>
          <p:cNvSpPr/>
          <p:nvPr/>
        </p:nvSpPr>
        <p:spPr>
          <a:xfrm>
            <a:off x="1071033" y="2513741"/>
            <a:ext cx="48050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4 confirmed weaknesses</a:t>
            </a:r>
            <a:endParaRPr lang="en-US" sz="2000" dirty="0"/>
          </a:p>
        </p:txBody>
      </p:sp>
      <p:sp>
        <p:nvSpPr>
          <p:cNvPr id="6" name="Text 4"/>
          <p:cNvSpPr/>
          <p:nvPr/>
        </p:nvSpPr>
        <p:spPr>
          <a:xfrm>
            <a:off x="1071033" y="2920141"/>
            <a:ext cx="4805087"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Access management, incident response testing, change management evidence, third-party risk.</a:t>
            </a:r>
            <a:endParaRPr lang="en-US" sz="1600" dirty="0"/>
          </a:p>
        </p:txBody>
      </p:sp>
      <p:sp>
        <p:nvSpPr>
          <p:cNvPr id="7" name="Shape 5"/>
          <p:cNvSpPr/>
          <p:nvPr/>
        </p:nvSpPr>
        <p:spPr>
          <a:xfrm>
            <a:off x="6200775" y="2258684"/>
            <a:ext cx="5175250" cy="1769798"/>
          </a:xfrm>
          <a:prstGeom prst="roundRect">
            <a:avLst>
              <a:gd name="adj" fmla="val 5561"/>
            </a:avLst>
          </a:prstGeom>
          <a:solidFill>
            <a:srgbClr val="FFFFFF"/>
          </a:solidFill>
          <a:ln w="6350">
            <a:solidFill>
              <a:srgbClr val="DDD8CB"/>
            </a:solidFill>
            <a:prstDash val="solid"/>
          </a:ln>
        </p:spPr>
      </p:sp>
      <p:sp>
        <p:nvSpPr>
          <p:cNvPr id="8" name="Text 6"/>
          <p:cNvSpPr/>
          <p:nvPr/>
        </p:nvSpPr>
        <p:spPr>
          <a:xfrm>
            <a:off x="6455833" y="2513741"/>
            <a:ext cx="48050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3 evidence gaps</a:t>
            </a:r>
            <a:endParaRPr lang="en-US" sz="2000" dirty="0"/>
          </a:p>
        </p:txBody>
      </p:sp>
      <p:sp>
        <p:nvSpPr>
          <p:cNvPr id="9" name="Text 7"/>
          <p:cNvSpPr/>
          <p:nvPr/>
        </p:nvSpPr>
        <p:spPr>
          <a:xfrm>
            <a:off x="6455833" y="2920141"/>
            <a:ext cx="480508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Multi-factor authentication, alert review, backup restoration.</a:t>
            </a:r>
            <a:endParaRPr lang="en-US" sz="1600" dirty="0"/>
          </a:p>
        </p:txBody>
      </p:sp>
      <p:sp>
        <p:nvSpPr>
          <p:cNvPr id="10" name="Text 8"/>
          <p:cNvSpPr/>
          <p:nvPr/>
        </p:nvSpPr>
        <p:spPr>
          <a:xfrm>
            <a:off x="812800" y="4336455"/>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Evidence register: 26 items. 7 available, 9 with a gap identified, 10 not specified.</a:t>
            </a:r>
            <a:endParaRPr lang="en-US" sz="16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Poppins" pitchFamily="34" charset="0"/>
                <a:ea typeface="Poppins" pitchFamily="34" charset="-122"/>
                <a:cs typeface="Poppins" pitchFamily="34" charset="-120"/>
              </a:rPr>
              <a:t>PayGo GDPR and SOC 2 assessment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02A"/>
                </a:solidFill>
                <a:latin typeface="Poppins" pitchFamily="34" charset="0"/>
                <a:ea typeface="Poppins" pitchFamily="34" charset="-122"/>
                <a:cs typeface="Poppins" pitchFamily="34" charset="-120"/>
              </a:rPr>
              <a:t>Remediation plan</a:t>
            </a:r>
            <a:endParaRPr lang="en-US" sz="3600" dirty="0"/>
          </a:p>
        </p:txBody>
      </p:sp>
      <p:sp>
        <p:nvSpPr>
          <p:cNvPr id="3" name="Shape 1"/>
          <p:cNvSpPr/>
          <p:nvPr/>
        </p:nvSpPr>
        <p:spPr>
          <a:xfrm>
            <a:off x="815975" y="1623684"/>
            <a:ext cx="6418130" cy="3749146"/>
          </a:xfrm>
          <a:prstGeom prst="roundRect">
            <a:avLst>
              <a:gd name="adj" fmla="val 2625"/>
            </a:avLst>
          </a:prstGeom>
          <a:solidFill>
            <a:srgbClr val="FFFFFF"/>
          </a:solidFill>
          <a:ln w="6350">
            <a:solidFill>
              <a:srgbClr val="DDD8CB"/>
            </a:solidFill>
            <a:prstDash val="solid"/>
          </a:ln>
        </p:spPr>
      </p:sp>
      <p:sp>
        <p:nvSpPr>
          <p:cNvPr id="4" name="Text 2"/>
          <p:cNvSpPr/>
          <p:nvPr/>
        </p:nvSpPr>
        <p:spPr>
          <a:xfrm>
            <a:off x="1071033" y="1878741"/>
            <a:ext cx="608525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High priority: 6 actions</a:t>
            </a:r>
            <a:endParaRPr lang="en-US" sz="2000" dirty="0"/>
          </a:p>
        </p:txBody>
      </p:sp>
      <p:sp>
        <p:nvSpPr>
          <p:cNvPr id="5" name="Text 3"/>
          <p:cNvSpPr/>
          <p:nvPr/>
        </p:nvSpPr>
        <p:spPr>
          <a:xfrm>
            <a:off x="1099013" y="2285141"/>
            <a:ext cx="6049655" cy="1854200"/>
          </a:xfrm>
          <a:prstGeom prst="rect">
            <a:avLst/>
          </a:prstGeom>
          <a:noFill/>
          <a:ln/>
        </p:spPr>
        <p:txBody>
          <a:bodyPr wrap="square" lIns="0" tIns="0" rIns="0" bIns="0" rtlCol="0" anchor="t">
            <a:normAutofit/>
          </a:bodyPr>
          <a:lstStyle/>
          <a:p>
            <a:pPr algn="l" marL="226020" indent="-226020">
              <a:lnSpc>
                <a:spcPts val="2400"/>
              </a:lnSpc>
              <a:buSzPct val="100000"/>
              <a:buFontTx/>
              <a:buAutoNum type="arabicPeriod" startAt="1"/>
            </a:pPr>
            <a:r>
              <a:rPr lang="en-US" sz="1600" dirty="0">
                <a:solidFill>
                  <a:srgbClr val="17202A"/>
                </a:solidFill>
                <a:latin typeface="Poppins" pitchFamily="34" charset="0"/>
                <a:ea typeface="Poppins" pitchFamily="34" charset="-122"/>
                <a:cs typeface="Poppins" pitchFamily="34" charset="-120"/>
              </a:rPr>
              <a:t>Vendor roles and risk assessments</a:t>
            </a:r>
            <a:endParaRPr lang="en-US" sz="1600" dirty="0"/>
          </a:p>
          <a:p>
            <a:pPr algn="l" marL="226020" indent="-226020">
              <a:lnSpc>
                <a:spcPts val="2400"/>
              </a:lnSpc>
              <a:buSzPct val="100000"/>
              <a:buFontTx/>
              <a:buAutoNum type="arabicPeriod" startAt="1"/>
            </a:pPr>
            <a:r>
              <a:rPr lang="en-US" sz="1600" dirty="0">
                <a:solidFill>
                  <a:srgbClr val="17202A"/>
                </a:solidFill>
                <a:latin typeface="Poppins" pitchFamily="34" charset="0"/>
                <a:ea typeface="Poppins" pitchFamily="34" charset="-122"/>
                <a:cs typeface="Poppins" pitchFamily="34" charset="-120"/>
              </a:rPr>
              <a:t>Transfer locations and mechanisms</a:t>
            </a:r>
            <a:endParaRPr lang="en-US" sz="1600" dirty="0"/>
          </a:p>
          <a:p>
            <a:pPr algn="l" marL="226020" indent="-226020">
              <a:lnSpc>
                <a:spcPts val="2400"/>
              </a:lnSpc>
              <a:buSzPct val="100000"/>
              <a:buFontTx/>
              <a:buAutoNum type="arabicPeriod" startAt="1"/>
            </a:pPr>
            <a:r>
              <a:rPr lang="en-US" sz="1600" dirty="0">
                <a:solidFill>
                  <a:srgbClr val="17202A"/>
                </a:solidFill>
                <a:latin typeface="Poppins" pitchFamily="34" charset="0"/>
                <a:ea typeface="Poppins" pitchFamily="34" charset="-122"/>
                <a:cs typeface="Poppins" pitchFamily="34" charset="-120"/>
              </a:rPr>
              <a:t>Access reviews and role mapping</a:t>
            </a:r>
            <a:endParaRPr lang="en-US" sz="1600" dirty="0"/>
          </a:p>
          <a:p>
            <a:pPr algn="l" marL="226020" indent="-226020">
              <a:lnSpc>
                <a:spcPts val="2400"/>
              </a:lnSpc>
              <a:buSzPct val="100000"/>
              <a:buFontTx/>
              <a:buAutoNum type="arabicPeriod" startAt="1"/>
            </a:pPr>
            <a:r>
              <a:rPr lang="en-US" sz="1600" dirty="0">
                <a:solidFill>
                  <a:srgbClr val="17202A"/>
                </a:solidFill>
                <a:latin typeface="Poppins" pitchFamily="34" charset="0"/>
                <a:ea typeface="Poppins" pitchFamily="34" charset="-122"/>
                <a:cs typeface="Poppins" pitchFamily="34" charset="-120"/>
              </a:rPr>
              <a:t>MFA coverage</a:t>
            </a:r>
            <a:endParaRPr lang="en-US" sz="1600" dirty="0"/>
          </a:p>
          <a:p>
            <a:pPr algn="l" marL="226020" indent="-226020">
              <a:lnSpc>
                <a:spcPts val="2400"/>
              </a:lnSpc>
              <a:buSzPct val="100000"/>
              <a:buFontTx/>
              <a:buAutoNum type="arabicPeriod" startAt="1"/>
            </a:pPr>
            <a:r>
              <a:rPr lang="en-US" sz="1600" dirty="0">
                <a:solidFill>
                  <a:srgbClr val="17202A"/>
                </a:solidFill>
                <a:latin typeface="Poppins" pitchFamily="34" charset="0"/>
                <a:ea typeface="Poppins" pitchFamily="34" charset="-122"/>
                <a:cs typeface="Poppins" pitchFamily="34" charset="-120"/>
              </a:rPr>
              <a:t>Incident response test and breach process</a:t>
            </a:r>
            <a:endParaRPr lang="en-US" sz="1600" dirty="0"/>
          </a:p>
          <a:p>
            <a:pPr algn="l" marL="226020" indent="-226020">
              <a:lnSpc>
                <a:spcPts val="2400"/>
              </a:lnSpc>
              <a:buSzPct val="100000"/>
              <a:buFontTx/>
              <a:buAutoNum type="arabicPeriod" startAt="1"/>
            </a:pPr>
            <a:r>
              <a:rPr lang="en-US" sz="1600" dirty="0">
                <a:solidFill>
                  <a:srgbClr val="17202A"/>
                </a:solidFill>
                <a:latin typeface="Poppins" pitchFamily="34" charset="0"/>
                <a:ea typeface="Poppins" pitchFamily="34" charset="-122"/>
                <a:cs typeface="Poppins" pitchFamily="34" charset="-120"/>
              </a:rPr>
              <a:t>Complete the record of processing</a:t>
            </a:r>
            <a:endParaRPr lang="en-US" sz="1600" dirty="0"/>
          </a:p>
        </p:txBody>
      </p:sp>
      <p:sp>
        <p:nvSpPr>
          <p:cNvPr id="6" name="Shape 4"/>
          <p:cNvSpPr/>
          <p:nvPr/>
        </p:nvSpPr>
        <p:spPr>
          <a:xfrm>
            <a:off x="7443656" y="1623684"/>
            <a:ext cx="3932370" cy="1485371"/>
          </a:xfrm>
          <a:prstGeom prst="roundRect">
            <a:avLst>
              <a:gd name="adj" fmla="val 6626"/>
            </a:avLst>
          </a:prstGeom>
          <a:solidFill>
            <a:srgbClr val="FFFFFF"/>
          </a:solidFill>
          <a:ln w="6350">
            <a:solidFill>
              <a:srgbClr val="DDD8CB"/>
            </a:solidFill>
            <a:prstDash val="solid"/>
          </a:ln>
        </p:spPr>
      </p:sp>
      <p:sp>
        <p:nvSpPr>
          <p:cNvPr id="7" name="Text 5"/>
          <p:cNvSpPr/>
          <p:nvPr/>
        </p:nvSpPr>
        <p:spPr>
          <a:xfrm>
            <a:off x="7698714" y="1878741"/>
            <a:ext cx="352492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12 Medium, 2 Low</a:t>
            </a:r>
            <a:endParaRPr lang="en-US" sz="2000" dirty="0"/>
          </a:p>
        </p:txBody>
      </p:sp>
      <p:sp>
        <p:nvSpPr>
          <p:cNvPr id="8" name="Text 6"/>
          <p:cNvSpPr/>
          <p:nvPr/>
        </p:nvSpPr>
        <p:spPr>
          <a:xfrm>
            <a:off x="7698714" y="2285141"/>
            <a:ext cx="3524921"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Notice, retention, deletion, change, backup and alert review.</a:t>
            </a:r>
            <a:endParaRPr lang="en-US" sz="1600" dirty="0"/>
          </a:p>
        </p:txBody>
      </p:sp>
      <p:sp>
        <p:nvSpPr>
          <p:cNvPr id="9" name="Shape 7"/>
          <p:cNvSpPr/>
          <p:nvPr/>
        </p:nvSpPr>
        <p:spPr>
          <a:xfrm>
            <a:off x="7443656" y="3318604"/>
            <a:ext cx="3932370" cy="2054225"/>
          </a:xfrm>
          <a:prstGeom prst="roundRect">
            <a:avLst>
              <a:gd name="adj" fmla="val 4791"/>
            </a:avLst>
          </a:prstGeom>
          <a:solidFill>
            <a:srgbClr val="FFFFFF"/>
          </a:solidFill>
          <a:ln w="6350">
            <a:solidFill>
              <a:srgbClr val="DDD8CB"/>
            </a:solidFill>
            <a:prstDash val="solid"/>
          </a:ln>
        </p:spPr>
      </p:sp>
      <p:sp>
        <p:nvSpPr>
          <p:cNvPr id="10" name="Text 8"/>
          <p:cNvSpPr/>
          <p:nvPr/>
        </p:nvSpPr>
        <p:spPr>
          <a:xfrm>
            <a:off x="7698714" y="3573661"/>
            <a:ext cx="352492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02A"/>
                </a:solidFill>
                <a:latin typeface="Poppins" pitchFamily="34" charset="0"/>
                <a:ea typeface="Poppins" pitchFamily="34" charset="-122"/>
                <a:cs typeface="Poppins" pitchFamily="34" charset="-120"/>
              </a:rPr>
              <a:t>Shared remediation</a:t>
            </a:r>
            <a:endParaRPr lang="en-US" sz="2000" dirty="0"/>
          </a:p>
        </p:txBody>
      </p:sp>
      <p:sp>
        <p:nvSpPr>
          <p:cNvPr id="11" name="Text 9"/>
          <p:cNvSpPr/>
          <p:nvPr/>
        </p:nvSpPr>
        <p:spPr>
          <a:xfrm>
            <a:off x="7698714" y="3980061"/>
            <a:ext cx="3524921"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652"/>
                </a:solidFill>
                <a:latin typeface="Poppins" pitchFamily="34" charset="0"/>
                <a:ea typeface="Poppins" pitchFamily="34" charset="-122"/>
                <a:cs typeface="Poppins" pitchFamily="34" charset="-120"/>
              </a:rPr>
              <a:t>One vendor programme, one access and MFA effort and one tabletop close findings in both frameworks.</a:t>
            </a:r>
            <a:endParaRPr lang="en-US" sz="1600" dirty="0"/>
          </a:p>
        </p:txBody>
      </p:sp>
      <p:sp>
        <p:nvSpPr>
          <p:cNvPr id="12" name="Text 1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770"/>
                </a:solidFill>
                <a:latin typeface="Poppins" pitchFamily="34" charset="0"/>
                <a:ea typeface="Poppins" pitchFamily="34" charset="-122"/>
                <a:cs typeface="Poppins" pitchFamily="34" charset="-120"/>
              </a:rPr>
              <a:t>PayGo GDPR and SOC 2 assessment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202A"/>
        </a:solidFill>
      </p:bgPr>
    </p:bg>
    <p:spTree>
      <p:nvGrpSpPr>
        <p:cNvPr id="1" name=""/>
        <p:cNvGrpSpPr/>
        <p:nvPr/>
      </p:nvGrpSpPr>
      <p:grpSpPr>
        <a:xfrm>
          <a:off x="0" y="0"/>
          <a:ext cx="0" cy="0"/>
          <a:chOff x="0" y="0"/>
          <a:chExt cx="0" cy="0"/>
        </a:xfrm>
      </p:grpSpPr>
      <p:sp>
        <p:nvSpPr>
          <p:cNvPr id="2" name="Text 0"/>
          <p:cNvSpPr/>
          <p:nvPr>
            <p:ph type="title"/>
          </p:nvPr>
        </p:nvSpPr>
        <p:spPr>
          <a:xfrm>
            <a:off x="812800" y="1788254"/>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2EA"/>
                </a:solidFill>
                <a:latin typeface="Poppins" pitchFamily="34" charset="0"/>
                <a:ea typeface="Poppins" pitchFamily="34" charset="-122"/>
                <a:cs typeface="Poppins" pitchFamily="34" charset="-120"/>
              </a:rPr>
              <a:t>PayGo has policies. Next, it must prove they work.</a:t>
            </a:r>
            <a:endParaRPr lang="en-US" sz="3600" dirty="0"/>
          </a:p>
        </p:txBody>
      </p:sp>
      <p:sp>
        <p:nvSpPr>
          <p:cNvPr id="3" name="Shape 1"/>
          <p:cNvSpPr/>
          <p:nvPr/>
        </p:nvSpPr>
        <p:spPr>
          <a:xfrm>
            <a:off x="812800" y="3098868"/>
            <a:ext cx="3386667" cy="1767681"/>
          </a:xfrm>
          <a:prstGeom prst="roundRect">
            <a:avLst>
              <a:gd name="adj" fmla="val 5748"/>
            </a:avLst>
          </a:prstGeom>
          <a:solidFill>
            <a:srgbClr val="243140"/>
          </a:solidFill>
          <a:ln/>
        </p:spPr>
      </p:sp>
      <p:sp>
        <p:nvSpPr>
          <p:cNvPr id="4" name="Text 2"/>
          <p:cNvSpPr/>
          <p:nvPr/>
        </p:nvSpPr>
        <p:spPr>
          <a:xfrm>
            <a:off x="1066800" y="3352868"/>
            <a:ext cx="29650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9FD6D0"/>
                </a:solidFill>
                <a:latin typeface="Poppins" pitchFamily="34" charset="0"/>
                <a:ea typeface="Poppins" pitchFamily="34" charset="-122"/>
                <a:cs typeface="Poppins" pitchFamily="34" charset="-120"/>
              </a:rPr>
              <a:t>Fix first</a:t>
            </a:r>
            <a:endParaRPr lang="en-US" sz="2000" dirty="0"/>
          </a:p>
        </p:txBody>
      </p:sp>
      <p:sp>
        <p:nvSpPr>
          <p:cNvPr id="5" name="Text 3"/>
          <p:cNvSpPr/>
          <p:nvPr/>
        </p:nvSpPr>
        <p:spPr>
          <a:xfrm>
            <a:off x="1066800" y="3759268"/>
            <a:ext cx="313266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2EA"/>
                </a:solidFill>
                <a:latin typeface="Poppins" pitchFamily="34" charset="0"/>
                <a:ea typeface="Poppins" pitchFamily="34" charset="-122"/>
                <a:cs typeface="Poppins" pitchFamily="34" charset="-120"/>
              </a:rPr>
              <a:t>The six High priority actions.</a:t>
            </a:r>
            <a:endParaRPr lang="en-US" sz="1600" dirty="0"/>
          </a:p>
        </p:txBody>
      </p:sp>
      <p:sp>
        <p:nvSpPr>
          <p:cNvPr id="6" name="Shape 4"/>
          <p:cNvSpPr/>
          <p:nvPr/>
        </p:nvSpPr>
        <p:spPr>
          <a:xfrm>
            <a:off x="4402667" y="3098868"/>
            <a:ext cx="3386667" cy="1767681"/>
          </a:xfrm>
          <a:prstGeom prst="roundRect">
            <a:avLst>
              <a:gd name="adj" fmla="val 5748"/>
            </a:avLst>
          </a:prstGeom>
          <a:solidFill>
            <a:srgbClr val="243140"/>
          </a:solidFill>
          <a:ln/>
        </p:spPr>
      </p:sp>
      <p:sp>
        <p:nvSpPr>
          <p:cNvPr id="7" name="Text 5"/>
          <p:cNvSpPr/>
          <p:nvPr/>
        </p:nvSpPr>
        <p:spPr>
          <a:xfrm>
            <a:off x="4656667" y="3352868"/>
            <a:ext cx="29650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9FD6D0"/>
                </a:solidFill>
                <a:latin typeface="Poppins" pitchFamily="34" charset="0"/>
                <a:ea typeface="Poppins" pitchFamily="34" charset="-122"/>
                <a:cs typeface="Poppins" pitchFamily="34" charset="-120"/>
              </a:rPr>
              <a:t>Prove it</a:t>
            </a:r>
            <a:endParaRPr lang="en-US" sz="2000" dirty="0"/>
          </a:p>
        </p:txBody>
      </p:sp>
      <p:sp>
        <p:nvSpPr>
          <p:cNvPr id="8" name="Text 6"/>
          <p:cNvSpPr/>
          <p:nvPr/>
        </p:nvSpPr>
        <p:spPr>
          <a:xfrm>
            <a:off x="4656667" y="3759268"/>
            <a:ext cx="2965027"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2EA"/>
                </a:solidFill>
                <a:latin typeface="Poppins" pitchFamily="34" charset="0"/>
                <a:ea typeface="Poppins" pitchFamily="34" charset="-122"/>
                <a:cs typeface="Poppins" pitchFamily="34" charset="-120"/>
              </a:rPr>
              <a:t>One evidence register for both frameworks.</a:t>
            </a:r>
            <a:endParaRPr lang="en-US" sz="1600" dirty="0"/>
          </a:p>
        </p:txBody>
      </p:sp>
      <p:sp>
        <p:nvSpPr>
          <p:cNvPr id="9" name="Shape 7"/>
          <p:cNvSpPr/>
          <p:nvPr/>
        </p:nvSpPr>
        <p:spPr>
          <a:xfrm>
            <a:off x="7992534" y="3098868"/>
            <a:ext cx="3386667" cy="1767681"/>
          </a:xfrm>
          <a:prstGeom prst="roundRect">
            <a:avLst>
              <a:gd name="adj" fmla="val 5748"/>
            </a:avLst>
          </a:prstGeom>
          <a:solidFill>
            <a:srgbClr val="243140"/>
          </a:solidFill>
          <a:ln/>
        </p:spPr>
      </p:sp>
      <p:sp>
        <p:nvSpPr>
          <p:cNvPr id="10" name="Text 8"/>
          <p:cNvSpPr/>
          <p:nvPr/>
        </p:nvSpPr>
        <p:spPr>
          <a:xfrm>
            <a:off x="8246534" y="3352868"/>
            <a:ext cx="29650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9FD6D0"/>
                </a:solidFill>
                <a:latin typeface="Poppins" pitchFamily="34" charset="0"/>
                <a:ea typeface="Poppins" pitchFamily="34" charset="-122"/>
                <a:cs typeface="Poppins" pitchFamily="34" charset="-120"/>
              </a:rPr>
              <a:t>Caveat</a:t>
            </a:r>
            <a:endParaRPr lang="en-US" sz="2000" dirty="0"/>
          </a:p>
        </p:txBody>
      </p:sp>
      <p:sp>
        <p:nvSpPr>
          <p:cNvPr id="11" name="Text 9"/>
          <p:cNvSpPr/>
          <p:nvPr/>
        </p:nvSpPr>
        <p:spPr>
          <a:xfrm>
            <a:off x="8246534" y="3759268"/>
            <a:ext cx="2965027" cy="87868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2EA"/>
                </a:solidFill>
                <a:latin typeface="Poppins" pitchFamily="34" charset="0"/>
                <a:ea typeface="Poppins" pitchFamily="34" charset="-122"/>
                <a:cs typeface="Poppins" pitchFamily="34" charset="-120"/>
              </a:rPr>
              <a:t>Owners and priorities are proposals, not facts about PayGo.</a:t>
            </a:r>
            <a:endParaRPr lang="en-US" sz="1600" dirty="0"/>
          </a:p>
        </p:txBody>
      </p:sp>
    </p:spTree>
  </p:cSld>
  <p:clrMapOvr>
    <a:masterClrMapping/>
  </p:clrMapOvr>
</p:sld>
</file>

<file path=ppt/theme/theme1.xml><?xml version="1.0" encoding="utf-8"?>
<a:theme xmlns:a="http://schemas.openxmlformats.org/drawingml/2006/main" name="PayGo GDPR &amp; SOC 2 Assessment - Steven Dairo">
  <a:themeElements>
    <a:clrScheme name="PayGo GDPR &amp; SOC 2 Assessment - Steven Dairo">
      <a:dk1>
        <a:srgbClr val="17202A"/>
      </a:dk1>
      <a:lt1>
        <a:srgbClr val="F5F2EA"/>
      </a:lt1>
      <a:dk2>
        <a:srgbClr val="4F555A"/>
      </a:dk2>
      <a:lt2>
        <a:srgbClr val="DFDDD7"/>
      </a:lt2>
      <a:accent1>
        <a:srgbClr val="9FD6D0"/>
      </a:accent1>
      <a:accent2>
        <a:srgbClr val="B8460E"/>
      </a:accent2>
      <a:accent3>
        <a:srgbClr val="1D4F91"/>
      </a:accent3>
      <a:accent4>
        <a:srgbClr val="3B4652"/>
      </a:accent4>
      <a:accent5>
        <a:srgbClr val="5B6770"/>
      </a:accent5>
      <a:accent6>
        <a:srgbClr val="C9C4B6"/>
      </a:accent6>
      <a:hlink>
        <a:srgbClr val="0563C1"/>
      </a:hlink>
      <a:folHlink>
        <a:srgbClr val="954F72"/>
      </a:folHlink>
    </a:clrScheme>
    <a:fontScheme name="PayGo GDPR &amp; SOC 2 Assessment - Steven Dairo">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PayGo GDPR &amp; SOC 2 Assessment - Steven Dairo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Poppins
Copyright 2020 The Poppins Project Authors (https://github.com/itfoundry/Poppins)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2026-10-27T07:12:09Z</dcterms:created>
  <dcterms:modified xsi:type="dcterms:W3CDTF">2026-10-27T07:12:09Z</dcterms:modified>
</cp:coreProperties>
</file>